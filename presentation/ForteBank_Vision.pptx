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807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3155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09728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200" b="1">
                <a:solidFill>
                  <a:srgbClr val="FFFFFF"/>
                </a:solidFill>
                <a:latin typeface="Arial"/>
              </a:defRPr>
            </a:pPr>
            <a:r>
              <a:t>ForteBank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7863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FFFFF"/>
                </a:solidFill>
                <a:latin typeface="Arial"/>
              </a:defRPr>
            </a:pPr>
            <a:r>
              <a:t>What is achievable in 48 hours with 42 labeled examples, no GPU, no cloud,</a:t>
            </a:r>
          </a:p>
          <a:p>
            <a:pPr>
              <a:defRPr sz="1500">
                <a:solidFill>
                  <a:srgbClr val="FFFFFF"/>
                </a:solidFill>
                <a:latin typeface="Arial"/>
              </a:defRPr>
            </a:pPr>
            <a:r>
              <a:t>and a legal constraint that the model must be explainable.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4023360"/>
            <a:ext cx="3291840" cy="365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041648"/>
            <a:ext cx="32918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A31551"/>
                </a:solidFill>
                <a:latin typeface="Arial"/>
              </a:defRPr>
            </a:pPr>
            <a:r>
              <a:t>Nazarbayev University Datathon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617720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almansur.kakimov@nu.edu.kz  |  github.com/almansur04/forte-cash-cv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A315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A31551"/>
                </a:solidFill>
                <a:latin typeface="Arial"/>
              </a:defRPr>
            </a:pPr>
            <a:r>
              <a:t>The constraints define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828032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6666"/>
                </a:solidFill>
                <a:latin typeface="Arial"/>
              </a:defRPr>
            </a:pPr>
            <a:r>
              <a:t>2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41248"/>
            <a:ext cx="8412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666666"/>
                </a:solidFill>
                <a:latin typeface="Arial"/>
              </a:defRPr>
            </a:pPr>
            <a:r>
              <a:t>This is not a paper. It is a feasibility study under four simultaneous constraints.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234440"/>
            <a:ext cx="4114800" cy="164592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3749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spc="150">
              <a:defRPr sz="1000" b="1">
                <a:solidFill>
                  <a:srgbClr val="A31551"/>
                </a:solidFill>
                <a:latin typeface="Arial"/>
              </a:defRPr>
            </a:pPr>
            <a:r>
              <a:t>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64208"/>
            <a:ext cx="374903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indent="-180000">
              <a:spcAft>
                <a:spcPts val="300"/>
              </a:spcAft>
              <a:defRPr sz="900">
                <a:solidFill>
                  <a:srgbClr val="1A1A1A"/>
                </a:solidFill>
                <a:latin typeface="Arial"/>
              </a:defRPr>
            </a:pPr>
            <a:r>
              <a:t>•  42 labeled clips (22 positive, 20 negative)</a:t>
            </a:r>
          </a:p>
          <a:p>
            <a:pPr marL="180000" indent="-180000">
              <a:spcAft>
                <a:spcPts val="300"/>
              </a:spcAft>
              <a:defRPr sz="900">
                <a:solidFill>
                  <a:srgbClr val="1A1A1A"/>
                </a:solidFill>
                <a:latin typeface="Arial"/>
              </a:defRPr>
            </a:pPr>
            <a:r>
              <a:t>•  10 to 73 seconds per clip</a:t>
            </a:r>
          </a:p>
          <a:p>
            <a:pPr marL="180000" indent="-180000">
              <a:spcAft>
                <a:spcPts val="300"/>
              </a:spcAft>
              <a:defRPr sz="900">
                <a:solidFill>
                  <a:srgbClr val="1A1A1A"/>
                </a:solidFill>
                <a:latin typeface="Arial"/>
              </a:defRPr>
            </a:pPr>
            <a:r>
              <a:t>•  No bounding boxes, one timestamp per violation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1234440"/>
            <a:ext cx="4114800" cy="164592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1371600"/>
            <a:ext cx="3749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spc="150">
              <a:defRPr sz="1000" b="1">
                <a:solidFill>
                  <a:srgbClr val="A31551"/>
                </a:solidFill>
                <a:latin typeface="Arial"/>
              </a:defRPr>
            </a:pPr>
            <a:r>
              <a:t>COMPUTE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664208"/>
            <a:ext cx="374903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indent="-180000">
              <a:spcAft>
                <a:spcPts val="300"/>
              </a:spcAft>
              <a:defRPr sz="900">
                <a:solidFill>
                  <a:srgbClr val="1A1A1A"/>
                </a:solidFill>
                <a:latin typeface="Arial"/>
              </a:defRPr>
            </a:pPr>
            <a:r>
              <a:t>•  48 hours, one M1 laptop</a:t>
            </a:r>
          </a:p>
          <a:p>
            <a:pPr marL="180000" indent="-180000">
              <a:spcAft>
                <a:spcPts val="300"/>
              </a:spcAft>
              <a:defRPr sz="900">
                <a:solidFill>
                  <a:srgbClr val="1A1A1A"/>
                </a:solidFill>
                <a:latin typeface="Arial"/>
              </a:defRPr>
            </a:pPr>
            <a:r>
              <a:t>•  No GPU at inference (branch server target)</a:t>
            </a:r>
          </a:p>
          <a:p>
            <a:pPr marL="180000" indent="-180000">
              <a:spcAft>
                <a:spcPts val="300"/>
              </a:spcAft>
              <a:defRPr sz="900">
                <a:solidFill>
                  <a:srgbClr val="1A1A1A"/>
                </a:solidFill>
                <a:latin typeface="Arial"/>
              </a:defRPr>
            </a:pPr>
            <a:r>
              <a:t>•  Deployment target: $5/month VPS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3017520"/>
            <a:ext cx="4114800" cy="164592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154679"/>
            <a:ext cx="3749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spc="150">
              <a:defRPr sz="1000" b="1">
                <a:solidFill>
                  <a:srgbClr val="A31551"/>
                </a:solidFill>
                <a:latin typeface="Arial"/>
              </a:defRPr>
            </a:pPr>
            <a:r>
              <a:t>LEGAL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447287"/>
            <a:ext cx="374903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indent="-180000">
              <a:spcAft>
                <a:spcPts val="300"/>
              </a:spcAft>
              <a:defRPr sz="900">
                <a:solidFill>
                  <a:srgbClr val="1A1A1A"/>
                </a:solidFill>
                <a:latin typeface="Arial"/>
              </a:defRPr>
            </a:pPr>
            <a:r>
              <a:t>•  No cloud inference (data residency)</a:t>
            </a:r>
          </a:p>
          <a:p>
            <a:pPr marL="180000" indent="-180000">
              <a:spcAft>
                <a:spcPts val="300"/>
              </a:spcAft>
              <a:defRPr sz="900">
                <a:solidFill>
                  <a:srgbClr val="1A1A1A"/>
                </a:solidFill>
                <a:latin typeface="Arial"/>
              </a:defRPr>
            </a:pPr>
            <a:r>
              <a:t>•  Every output cites an RK normative clause</a:t>
            </a:r>
          </a:p>
          <a:p>
            <a:pPr marL="180000" indent="-180000">
              <a:spcAft>
                <a:spcPts val="300"/>
              </a:spcAft>
              <a:defRPr sz="900">
                <a:solidFill>
                  <a:srgbClr val="1A1A1A"/>
                </a:solidFill>
                <a:latin typeface="Arial"/>
              </a:defRPr>
            </a:pPr>
            <a:r>
              <a:t>•  No hallucinated citations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40" y="3017520"/>
            <a:ext cx="4114800" cy="164592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0" y="3154679"/>
            <a:ext cx="3749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spc="150">
              <a:defRPr sz="1000" b="1">
                <a:solidFill>
                  <a:srgbClr val="A31551"/>
                </a:solidFill>
                <a:latin typeface="Arial"/>
              </a:defRPr>
            </a:pPr>
            <a:r>
              <a:t>EVALUATION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3447287"/>
            <a:ext cx="374903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indent="-180000">
              <a:spcAft>
                <a:spcPts val="300"/>
              </a:spcAft>
              <a:defRPr sz="900">
                <a:solidFill>
                  <a:srgbClr val="1A1A1A"/>
                </a:solidFill>
                <a:latin typeface="Arial"/>
              </a:defRPr>
            </a:pPr>
            <a:r>
              <a:t>•  Test set filmed from a different camera angle</a:t>
            </a:r>
          </a:p>
          <a:p>
            <a:pPr marL="180000" indent="-180000">
              <a:spcAft>
                <a:spcPts val="300"/>
              </a:spcAft>
              <a:defRPr sz="900">
                <a:solidFill>
                  <a:srgbClr val="1A1A1A"/>
                </a:solidFill>
                <a:latin typeface="Arial"/>
              </a:defRPr>
            </a:pPr>
            <a:r>
              <a:t>•  No published baseline for this task</a:t>
            </a:r>
          </a:p>
          <a:p>
            <a:pPr marL="180000" indent="-180000">
              <a:spcAft>
                <a:spcPts val="300"/>
              </a:spcAft>
              <a:defRPr sz="900">
                <a:solidFill>
                  <a:srgbClr val="1A1A1A"/>
                </a:solidFill>
                <a:latin typeface="Arial"/>
              </a:defRPr>
            </a:pPr>
            <a:r>
              <a:t>•  F1 is the target metric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A315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A31551"/>
                </a:solidFill>
                <a:latin typeface="Arial"/>
              </a:defRPr>
            </a:pPr>
            <a:r>
              <a:t>Statistical validity: n=42 spans 30 F1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828032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6666"/>
                </a:solidFill>
                <a:latin typeface="Arial"/>
              </a:defRPr>
            </a:pPr>
            <a:r>
              <a:t>3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41248"/>
            <a:ext cx="8412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666666"/>
                </a:solidFill>
                <a:latin typeface="Arial"/>
              </a:defRPr>
            </a:pPr>
            <a:r>
              <a:t>Every number on subsequent slides inherits this uncertainty.</a:t>
            </a:r>
          </a:p>
        </p:txBody>
      </p:sp>
      <p:pic>
        <p:nvPicPr>
          <p:cNvPr id="6" name="Picture 5" descr="stat_c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8412480" cy="175983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3611880"/>
            <a:ext cx="8412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spc="150">
              <a:defRPr sz="1000" b="1">
                <a:solidFill>
                  <a:srgbClr val="A31551"/>
                </a:solidFill>
                <a:latin typeface="Arial"/>
              </a:defRPr>
            </a:pPr>
            <a:r>
              <a:t>WHAT THIS MEANS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904488"/>
            <a:ext cx="8412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indent="-180000">
              <a:spcAft>
                <a:spcPts val="300"/>
              </a:spcAft>
              <a:defRPr sz="1000">
                <a:solidFill>
                  <a:srgbClr val="1A1A1A"/>
                </a:solidFill>
                <a:latin typeface="Arial"/>
              </a:defRPr>
            </a:pPr>
            <a:r>
              <a:t>•  95% CI on F1 is 45–76%. The lower bound overlaps the trivial baseline.</a:t>
            </a:r>
          </a:p>
          <a:p>
            <a:pPr marL="180000" indent="-180000">
              <a:spcAft>
                <a:spcPts val="300"/>
              </a:spcAft>
              <a:defRPr sz="1000">
                <a:solidFill>
                  <a:srgbClr val="1A1A1A"/>
                </a:solidFill>
                <a:latin typeface="Arial"/>
              </a:defRPr>
            </a:pPr>
            <a:r>
              <a:t>•  Required sample size for ±5% CI at 95% confidence is ~400 clips. We had 42.</a:t>
            </a:r>
          </a:p>
          <a:p>
            <a:pPr marL="180000" indent="-180000">
              <a:spcAft>
                <a:spcPts val="300"/>
              </a:spcAft>
              <a:defRPr sz="1000">
                <a:solidFill>
                  <a:srgbClr val="1A1A1A"/>
                </a:solidFill>
                <a:latin typeface="Arial"/>
              </a:defRPr>
            </a:pPr>
            <a:r>
              <a:t>•  Treat every number on subsequent slides as an existence proof, not a performance claim.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A315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A31551"/>
                </a:solidFill>
                <a:latin typeface="Arial"/>
              </a:defRPr>
            </a:pPr>
            <a:r>
              <a:t>What we shipped: the verifiable subset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828032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6666"/>
                </a:solidFill>
                <a:latin typeface="Arial"/>
              </a:defRPr>
            </a:pPr>
            <a:r>
              <a:t>4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41248"/>
            <a:ext cx="8412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666666"/>
                </a:solidFill>
                <a:latin typeface="Arial"/>
              </a:defRPr>
            </a:pPr>
            <a:r>
              <a:t>One rule. Deterministic. Cited. Runs on a branch server, offline.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280160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spc="150">
              <a:defRPr sz="1000" b="1">
                <a:solidFill>
                  <a:srgbClr val="A31551"/>
                </a:solidFill>
                <a:latin typeface="Arial"/>
              </a:defRPr>
            </a:pPr>
            <a:r>
              <a:t>THE RULE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572768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indent="-180000">
              <a:spcAft>
                <a:spcPts val="300"/>
              </a:spcAft>
              <a:defRPr sz="1000">
                <a:solidFill>
                  <a:srgbClr val="1A1A1A"/>
                </a:solidFill>
                <a:latin typeface="Arial"/>
              </a:defRPr>
            </a:pPr>
            <a:r>
              <a:t>•  Detects: cashier leaves workstation zone for more than 1.2s</a:t>
            </a:r>
          </a:p>
          <a:p>
            <a:pPr marL="180000" indent="-180000">
              <a:spcAft>
                <a:spcPts val="300"/>
              </a:spcAft>
              <a:defRPr sz="1000">
                <a:solidFill>
                  <a:srgbClr val="1A1A1A"/>
                </a:solidFill>
                <a:latin typeface="Arial"/>
              </a:defRPr>
            </a:pPr>
            <a:r>
              <a:t>•  Cites: NBRK Resolution 231, Article 22, verified on adilet.zan.kz</a:t>
            </a:r>
          </a:p>
          <a:p>
            <a:pPr marL="180000" indent="-180000">
              <a:spcAft>
                <a:spcPts val="300"/>
              </a:spcAft>
              <a:defRPr sz="1000">
                <a:solidFill>
                  <a:srgbClr val="1A1A1A"/>
                </a:solidFill>
                <a:latin typeface="Arial"/>
              </a:defRPr>
            </a:pPr>
            <a:r>
              <a:t>•  Output: timestamp, evidence JPEG, article number, direct URL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697480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spc="150">
              <a:defRPr sz="1000" b="1">
                <a:solidFill>
                  <a:srgbClr val="00573F"/>
                </a:solidFill>
                <a:latin typeface="Arial"/>
              </a:defRPr>
            </a:pPr>
            <a:r>
              <a:t>THE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990088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indent="-180000">
              <a:spcAft>
                <a:spcPts val="300"/>
              </a:spcAft>
              <a:defRPr sz="1000">
                <a:solidFill>
                  <a:srgbClr val="1A1A1A"/>
                </a:solidFill>
                <a:latin typeface="Arial"/>
              </a:defRPr>
            </a:pPr>
            <a:r>
              <a:t>•  1.0s per 25s video on M1 CPU, 179 MB peak RAM</a:t>
            </a:r>
          </a:p>
          <a:p>
            <a:pPr marL="180000" indent="-180000">
              <a:spcAft>
                <a:spcPts val="300"/>
              </a:spcAft>
              <a:defRPr sz="1000">
                <a:solidFill>
                  <a:srgbClr val="1A1A1A"/>
                </a:solidFill>
                <a:latin typeface="Arial"/>
              </a:defRPr>
            </a:pPr>
            <a:r>
              <a:t>•  Docker image, fully offline after pull</a:t>
            </a:r>
          </a:p>
          <a:p>
            <a:pPr marL="180000" indent="-180000">
              <a:spcAft>
                <a:spcPts val="300"/>
              </a:spcAft>
              <a:defRPr sz="1000">
                <a:solidFill>
                  <a:srgbClr val="1A1A1A"/>
                </a:solidFill>
                <a:latin typeface="Arial"/>
              </a:defRPr>
            </a:pPr>
            <a:r>
              <a:t>•  Live demo, working API, deterministic output</a:t>
            </a:r>
          </a:p>
        </p:txBody>
      </p:sp>
      <p:pic>
        <p:nvPicPr>
          <p:cNvPr id="10" name="Picture 9" descr="demo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280160"/>
            <a:ext cx="3566160" cy="20472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A315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A31551"/>
                </a:solidFill>
                <a:latin typeface="Arial"/>
              </a:defRPr>
            </a:pPr>
            <a:r>
              <a:t>Ablation: what we measured vs. what we estimated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828032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6666"/>
                </a:solidFill>
                <a:latin typeface="Arial"/>
              </a:defRPr>
            </a:pPr>
            <a:r>
              <a:t>5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41248"/>
            <a:ext cx="8412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666666"/>
                </a:solidFill>
                <a:latin typeface="Arial"/>
              </a:defRPr>
            </a:pPr>
            <a:r>
              <a:t>The shipped configuration has NOT been re-benchmarked on all 42 clips.</a:t>
            </a:r>
          </a:p>
        </p:txBody>
      </p:sp>
      <p:pic>
        <p:nvPicPr>
          <p:cNvPr id="6" name="Picture 5" descr="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8595360" cy="19544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3703320"/>
            <a:ext cx="8412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spc="150">
              <a:defRPr sz="1000" b="1">
                <a:solidFill>
                  <a:srgbClr val="D97706"/>
                </a:solidFill>
                <a:latin typeface="Arial"/>
              </a:defRPr>
            </a:pPr>
            <a:r>
              <a:t>HONEST READING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995928"/>
            <a:ext cx="8412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indent="-180000">
              <a:spcAft>
                <a:spcPts val="300"/>
              </a:spcAft>
              <a:defRPr sz="1000">
                <a:solidFill>
                  <a:srgbClr val="1A1A1A"/>
                </a:solidFill>
                <a:latin typeface="Arial"/>
              </a:defRPr>
            </a:pPr>
            <a:r>
              <a:t>•  Full F1 benchmark was run on V9 PyTorch MPS only. Post-ONNX numbers are estimated.</a:t>
            </a:r>
          </a:p>
          <a:p>
            <a:pPr marL="180000" indent="-180000">
              <a:spcAft>
                <a:spcPts val="300"/>
              </a:spcAft>
              <a:defRPr sz="1000">
                <a:solidFill>
                  <a:srgbClr val="1A1A1A"/>
                </a:solidFill>
                <a:latin typeface="Arial"/>
              </a:defRPr>
            </a:pPr>
            <a:r>
              <a:t>•  The shipped INT8 320x320 model was spot-checked on X-11 (correct) and X-48 (correct).</a:t>
            </a:r>
          </a:p>
          <a:p>
            <a:pPr marL="180000" indent="-180000">
              <a:spcAft>
                <a:spcPts val="300"/>
              </a:spcAft>
              <a:defRPr sz="1000">
                <a:solidFill>
                  <a:srgbClr val="1A1A1A"/>
                </a:solidFill>
                <a:latin typeface="Arial"/>
              </a:defRPr>
            </a:pPr>
            <a:r>
              <a:t>•  Re-running the benchmark on the shipped model is the first task for Phase 2.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A315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A31551"/>
                </a:solidFill>
                <a:latin typeface="Arial"/>
              </a:defRPr>
            </a:pPr>
            <a:r>
              <a:t>Failure taxonomy: 19 errors, 4 root causes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828032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6666"/>
                </a:solidFill>
                <a:latin typeface="Arial"/>
              </a:defRPr>
            </a:pPr>
            <a:r>
              <a:t>6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41248"/>
            <a:ext cx="8412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666666"/>
                </a:solidFill>
                <a:latin typeface="Arial"/>
              </a:defRPr>
            </a:pPr>
            <a:r>
              <a:t>Not 'the model is bad'. Specific failure modes with specific fixes.</a:t>
            </a:r>
          </a:p>
        </p:txBody>
      </p:sp>
      <p:pic>
        <p:nvPicPr>
          <p:cNvPr id="6" name="Picture 5" descr="failure_taxonom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8595360" cy="167615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3520440"/>
            <a:ext cx="8412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spc="150">
              <a:defRPr sz="1000" b="1">
                <a:solidFill>
                  <a:srgbClr val="A31551"/>
                </a:solidFill>
                <a:latin typeface="Arial"/>
              </a:defRPr>
            </a:pPr>
            <a:r>
              <a:t>WHAT IS FIXABLE VS. WHAT IS NOT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813048"/>
            <a:ext cx="8412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indent="-180000">
              <a:spcAft>
                <a:spcPts val="300"/>
              </a:spcAft>
              <a:defRPr sz="900">
                <a:solidFill>
                  <a:srgbClr val="1A1A1A"/>
                </a:solidFill>
                <a:latin typeface="Arial"/>
              </a:defRPr>
            </a:pPr>
            <a:r>
              <a:t>•  8 FPs from lean: tighten the vertical rect boundary. One line. May cost a few TPs.</a:t>
            </a:r>
          </a:p>
          <a:p>
            <a:pPr marL="180000" indent="-180000">
              <a:spcAft>
                <a:spcPts val="300"/>
              </a:spcAft>
              <a:defRPr sz="900">
                <a:solidFill>
                  <a:srgbClr val="1A1A1A"/>
                </a:solidFill>
                <a:latin typeface="Arial"/>
              </a:defRPr>
            </a:pPr>
            <a:r>
              <a:t>•  4 FPs from detection dropout: require 2 consecutive frames of no-detection before firing.</a:t>
            </a:r>
          </a:p>
          <a:p>
            <a:pPr marL="180000" indent="-180000">
              <a:spcAft>
                <a:spcPts val="300"/>
              </a:spcAft>
              <a:defRPr sz="900">
                <a:solidFill>
                  <a:srgbClr val="1A1A1A"/>
                </a:solidFill>
                <a:latin typeface="Arial"/>
              </a:defRPr>
            </a:pPr>
            <a:r>
              <a:t>•  6 FNs from sitting violations: needs an action classifier. Not fixable in 48h.</a:t>
            </a:r>
          </a:p>
          <a:p>
            <a:pPr marL="180000" indent="-180000">
              <a:spcAft>
                <a:spcPts val="300"/>
              </a:spcAft>
              <a:defRPr sz="900">
                <a:solidFill>
                  <a:srgbClr val="1A1A1A"/>
                </a:solidFill>
                <a:latin typeface="Arial"/>
              </a:defRPr>
            </a:pPr>
            <a:r>
              <a:t>•  1 FN from short violation: lower streak threshold from 6 to 4. Risk: more FPs.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A315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A31551"/>
                </a:solidFill>
                <a:latin typeface="Arial"/>
              </a:defRPr>
            </a:pPr>
            <a:r>
              <a:t>Generalization: the biggest honest limitation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828032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6666"/>
                </a:solidFill>
                <a:latin typeface="Arial"/>
              </a:defRPr>
            </a:pPr>
            <a:r>
              <a:t>7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41248"/>
            <a:ext cx="8412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666666"/>
                </a:solidFill>
                <a:latin typeface="Arial"/>
              </a:defRPr>
            </a:pPr>
            <a:r>
              <a:t>The dataset brief says test is filmed from a different angle. We did not solve this.</a:t>
            </a:r>
          </a:p>
        </p:txBody>
      </p:sp>
      <p:pic>
        <p:nvPicPr>
          <p:cNvPr id="6" name="Picture 5" descr="general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8595360" cy="191385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3657600"/>
            <a:ext cx="8412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spc="150">
              <a:defRPr sz="1000" b="1">
                <a:solidFill>
                  <a:srgbClr val="DC2626"/>
                </a:solidFill>
                <a:latin typeface="Arial"/>
              </a:defRPr>
            </a:pPr>
            <a:r>
              <a:t>TWO VIABLE PATHS, BOTH OUT OF 48H 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950208"/>
            <a:ext cx="8412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indent="-180000">
              <a:spcAft>
                <a:spcPts val="300"/>
              </a:spcAft>
              <a:defRPr sz="900">
                <a:solidFill>
                  <a:srgbClr val="1A1A1A"/>
                </a:solidFill>
                <a:latin typeface="Arial"/>
              </a:defRPr>
            </a:pPr>
            <a:r>
              <a:t>•  Approach A: per-video desk detection using YOLO's 'dining table' class + homography</a:t>
            </a:r>
          </a:p>
          <a:p>
            <a:pPr marL="180000" indent="-180000">
              <a:spcAft>
                <a:spcPts val="300"/>
              </a:spcAft>
              <a:defRPr sz="900">
                <a:solidFill>
                  <a:srgbClr val="1A1A1A"/>
                </a:solidFill>
                <a:latin typeface="Arial"/>
              </a:defRPr>
            </a:pPr>
            <a:r>
              <a:t>•  Approach B: manual desk-corner annotation at inference time (UI prompt before analysis)</a:t>
            </a:r>
          </a:p>
          <a:p>
            <a:pPr marL="180000" indent="-180000">
              <a:spcAft>
                <a:spcPts val="300"/>
              </a:spcAft>
              <a:defRPr sz="900">
                <a:solidFill>
                  <a:srgbClr val="1A1A1A"/>
                </a:solidFill>
                <a:latin typeface="Arial"/>
              </a:defRPr>
            </a:pPr>
            <a:r>
              <a:t>•  Both require 1–2 days of implementation and validation. Deferred to Phase 2.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A315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A31551"/>
                </a:solidFill>
                <a:latin typeface="Arial"/>
              </a:defRPr>
            </a:pPr>
            <a:r>
              <a:t>What we rejected: with proper caveats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828032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6666"/>
                </a:solidFill>
                <a:latin typeface="Arial"/>
              </a:defRPr>
            </a:pPr>
            <a:r>
              <a:t>8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41248"/>
            <a:ext cx="8412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666666"/>
                </a:solidFill>
                <a:latin typeface="Arial"/>
              </a:defRPr>
            </a:pPr>
            <a:r>
              <a:t>Two single tests. We do not claim these generalize to the categories.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280160"/>
            <a:ext cx="4114800" cy="2697480"/>
          </a:xfrm>
          <a:prstGeom prst="roundRect">
            <a:avLst>
              <a:gd name="adj" fmla="val 5000"/>
            </a:avLst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3749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spc="150">
              <a:defRPr sz="1000" b="1">
                <a:solidFill>
                  <a:srgbClr val="DC2626"/>
                </a:solidFill>
                <a:latin typeface="Arial"/>
              </a:defRPr>
            </a:pPr>
            <a:r>
              <a:t>MOONDREAM2 (VLM)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64208"/>
            <a:ext cx="374903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indent="-180000">
              <a:spcAft>
                <a:spcPts val="300"/>
              </a:spcAft>
              <a:defRPr sz="900">
                <a:solidFill>
                  <a:srgbClr val="1A1A1A"/>
                </a:solidFill>
                <a:latin typeface="Arial"/>
              </a:defRPr>
            </a:pPr>
            <a:r>
              <a:t>•  Prompt: 'Is there a mobile phone visible?' (single-sentence, no chain-of-thought)</a:t>
            </a:r>
          </a:p>
          <a:p>
            <a:pPr marL="180000" indent="-180000">
              <a:spcAft>
                <a:spcPts val="300"/>
              </a:spcAft>
              <a:defRPr sz="900">
                <a:solidFill>
                  <a:srgbClr val="1A1A1A"/>
                </a:solidFill>
                <a:latin typeface="Arial"/>
              </a:defRPr>
            </a:pPr>
            <a:r>
              <a:t>•  n=4 clean videos. All 4 produced false positives.</a:t>
            </a:r>
          </a:p>
          <a:p>
            <a:pPr marL="180000" indent="-180000">
              <a:spcAft>
                <a:spcPts val="300"/>
              </a:spcAft>
              <a:defRPr sz="900">
                <a:solidFill>
                  <a:srgbClr val="1A1A1A"/>
                </a:solidFill>
                <a:latin typeface="Arial"/>
              </a:defRPr>
            </a:pPr>
            <a:r>
              <a:t>•  Root cause: IP desk phone on every desk. VLM answered 'yes'.</a:t>
            </a:r>
          </a:p>
          <a:p>
            <a:pPr marL="180000" indent="-180000">
              <a:spcAft>
                <a:spcPts val="300"/>
              </a:spcAft>
              <a:defRPr sz="900">
                <a:solidFill>
                  <a:srgbClr val="1A1A1A"/>
                </a:solidFill>
                <a:latin typeface="Arial"/>
              </a:defRPr>
            </a:pPr>
            <a:r>
              <a:t>•  n=2 real violations. Both answered 'no'. Phone too small.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1280160"/>
            <a:ext cx="4114800" cy="2697480"/>
          </a:xfrm>
          <a:prstGeom prst="roundRect">
            <a:avLst>
              <a:gd name="adj" fmla="val 5000"/>
            </a:avLst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1371600"/>
            <a:ext cx="3749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spc="150">
              <a:defRPr sz="1000" b="1">
                <a:solidFill>
                  <a:srgbClr val="DC2626"/>
                </a:solidFill>
                <a:latin typeface="Arial"/>
              </a:defRPr>
            </a:pPr>
            <a:r>
              <a:t>YOLOV8S-POSE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664208"/>
            <a:ext cx="374903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indent="-180000">
              <a:spcAft>
                <a:spcPts val="300"/>
              </a:spcAft>
              <a:defRPr sz="900">
                <a:solidFill>
                  <a:srgbClr val="1A1A1A"/>
                </a:solidFill>
                <a:latin typeface="Arial"/>
              </a:defRPr>
            </a:pPr>
            <a:r>
              <a:t>•  Head/wrist keypoints as proxy for presence and phone use</a:t>
            </a:r>
          </a:p>
          <a:p>
            <a:pPr marL="180000" indent="-180000">
              <a:spcAft>
                <a:spcPts val="300"/>
              </a:spcAft>
              <a:defRPr sz="900">
                <a:solidFill>
                  <a:srgbClr val="1A1A1A"/>
                </a:solidFill>
                <a:latin typeface="Arial"/>
              </a:defRPr>
            </a:pPr>
            <a:r>
              <a:t>•  Failure 1: keypoints drop for 1-3 frames on lean-forward (12/12 FPs)</a:t>
            </a:r>
          </a:p>
          <a:p>
            <a:pPr marL="180000" indent="-180000">
              <a:spcAft>
                <a:spcPts val="300"/>
              </a:spcAft>
              <a:defRPr sz="900">
                <a:solidFill>
                  <a:srgbClr val="1A1A1A"/>
                </a:solidFill>
                <a:latin typeface="Arial"/>
              </a:defRPr>
            </a:pPr>
            <a:r>
              <a:t>•  Failure 2: chin-rest and phone-call are geometrically identical in 2D</a:t>
            </a:r>
          </a:p>
          <a:p>
            <a:pPr marL="180000" indent="-180000">
              <a:spcAft>
                <a:spcPts val="300"/>
              </a:spcAft>
              <a:defRPr sz="900">
                <a:solidFill>
                  <a:srgbClr val="1A1A1A"/>
                </a:solidFill>
                <a:latin typeface="Arial"/>
              </a:defRPr>
            </a:pPr>
            <a:r>
              <a:t>•  No threshold separates them at this resolution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4114800"/>
            <a:ext cx="8412480" cy="91440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187952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spc="150">
              <a:defRPr sz="1000" b="1">
                <a:solidFill>
                  <a:srgbClr val="D97706"/>
                </a:solidFill>
                <a:latin typeface="Arial"/>
              </a:defRPr>
            </a:pPr>
            <a:r>
              <a:t>CAVEAT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480560"/>
            <a:ext cx="8046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indent="-180000">
              <a:spcAft>
                <a:spcPts val="300"/>
              </a:spcAft>
              <a:defRPr sz="900">
                <a:solidFill>
                  <a:srgbClr val="1A1A1A"/>
                </a:solidFill>
                <a:latin typeface="Arial"/>
              </a:defRPr>
            </a:pPr>
            <a:r>
              <a:t>•  Each test was a single experiment. n=4 and n=12 respectively. Single prompt, single model.</a:t>
            </a:r>
          </a:p>
          <a:p>
            <a:pPr marL="180000" indent="-180000">
              <a:spcAft>
                <a:spcPts val="300"/>
              </a:spcAft>
              <a:defRPr sz="900">
                <a:solidFill>
                  <a:srgbClr val="1A1A1A"/>
                </a:solidFill>
                <a:latin typeface="Arial"/>
              </a:defRPr>
            </a:pPr>
            <a:r>
              <a:t>•  Not tried: alternative prompts, chain-of-thought, or other VLMs. That is the study a real researcher would run.</a:t>
            </a:r>
          </a:p>
          <a:p>
            <a:pPr marL="180000" indent="-180000">
              <a:spcAft>
                <a:spcPts val="300"/>
              </a:spcAft>
              <a:defRPr sz="900">
                <a:solidFill>
                  <a:srgbClr val="1A1A1A"/>
                </a:solidFill>
                <a:latin typeface="Arial"/>
              </a:defRPr>
            </a:pPr>
            <a:r>
              <a:t>•  We do not claim 'VLMs fail'. We claim 'this VLM with this prompt failed'.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A315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A31551"/>
                </a:solidFill>
                <a:latin typeface="Arial"/>
              </a:defRPr>
            </a:pPr>
            <a:r>
              <a:t>The iteration story: measurement as ground truth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828032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6666"/>
                </a:solidFill>
                <a:latin typeface="Arial"/>
              </a:defRPr>
            </a:pPr>
            <a:r>
              <a:t>9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41248"/>
            <a:ext cx="8412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666666"/>
                </a:solidFill>
                <a:latin typeface="Arial"/>
              </a:defRPr>
            </a:pPr>
            <a:r>
              <a:t>9 versions. 3 produced 0% F1. Each looked correct before measurement.</a:t>
            </a:r>
          </a:p>
        </p:txBody>
      </p:sp>
      <p:pic>
        <p:nvPicPr>
          <p:cNvPr id="6" name="Picture 5" descr="ite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8595360" cy="166960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3520440"/>
            <a:ext cx="8412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spc="150">
              <a:defRPr sz="1000" b="1">
                <a:solidFill>
                  <a:srgbClr val="A31551"/>
                </a:solidFill>
                <a:latin typeface="Arial"/>
              </a:defRPr>
            </a:pPr>
            <a:r>
              <a:t>WHAT BROKE AND WHY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813048"/>
            <a:ext cx="8412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indent="-180000">
              <a:spcAft>
                <a:spcPts val="300"/>
              </a:spcAft>
              <a:defRPr sz="900">
                <a:solidFill>
                  <a:srgbClr val="1A1A1A"/>
                </a:solidFill>
                <a:latin typeface="Arial"/>
              </a:defRPr>
            </a:pPr>
            <a:r>
              <a:t>•  V13 (central column): box expanded to 70% of frame → everything counted as 'at desk' → 8.7% F1</a:t>
            </a:r>
          </a:p>
          <a:p>
            <a:pPr marL="180000" indent="-180000">
              <a:spcAft>
                <a:spcPts val="300"/>
              </a:spcAft>
              <a:defRPr sz="900">
                <a:solidFill>
                  <a:srgbClr val="1A1A1A"/>
                </a:solidFill>
                <a:latin typeface="Arial"/>
              </a:defRPr>
            </a:pPr>
            <a:r>
              <a:t>•  V16 (adaptive home base): cashier never exceeded threshold → streak never fired → 0% F1</a:t>
            </a:r>
          </a:p>
          <a:p>
            <a:pPr marL="180000" indent="-180000">
              <a:spcAft>
                <a:spcPts val="300"/>
              </a:spcAft>
              <a:defRPr sz="900">
                <a:solidFill>
                  <a:srgbClr val="1A1A1A"/>
                </a:solidFill>
                <a:latin typeface="Arial"/>
              </a:defRPr>
            </a:pPr>
            <a:r>
              <a:t>•  V17 (no-null-detection guard): guard prevented streak from building → 0% F1</a:t>
            </a:r>
          </a:p>
          <a:p>
            <a:pPr marL="180000" indent="-180000">
              <a:spcAft>
                <a:spcPts val="300"/>
              </a:spcAft>
              <a:defRPr sz="900">
                <a:solidFill>
                  <a:srgbClr val="1A1A1A"/>
                </a:solidFill>
                <a:latin typeface="Arial"/>
              </a:defRPr>
            </a:pPr>
            <a:r>
              <a:t>•  V18 (y2=1.0): box covered bottom of frame, same failure as V17 → 0% F1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A315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A31551"/>
                </a:solidFill>
                <a:latin typeface="Arial"/>
              </a:defRPr>
            </a:pPr>
            <a:r>
              <a:t>Related work and the honest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828032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6666"/>
                </a:solidFill>
                <a:latin typeface="Arial"/>
              </a:defRPr>
            </a:pPr>
            <a:r>
              <a:t>10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41248"/>
            <a:ext cx="8412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666666"/>
                </a:solidFill>
                <a:latin typeface="Arial"/>
              </a:defRPr>
            </a:pPr>
            <a:r>
              <a:t>We do not beat SOTA. We characterize the achievable floor under constraint.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280160"/>
          <a:ext cx="841248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3383280"/>
              </a:tblGrid>
              <a:tr h="4191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Approach</a:t>
                      </a:r>
                    </a:p>
                  </a:txBody>
                  <a:tcPr marL="73152" marR="73152" marT="45720" marB="45720">
                    <a:solidFill>
                      <a:srgbClr val="A3155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Resource requirement</a:t>
                      </a:r>
                    </a:p>
                  </a:txBody>
                  <a:tcPr marL="73152" marR="73152" marT="45720" marB="45720">
                    <a:solidFill>
                      <a:srgbClr val="A3155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Why not used here</a:t>
                      </a:r>
                    </a:p>
                  </a:txBody>
                  <a:tcPr marL="73152" marR="73152" marT="45720" marB="45720">
                    <a:solidFill>
                      <a:srgbClr val="A31551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AVA, MOMA, SlowFast</a:t>
                      </a:r>
                    </a:p>
                  </a:txBody>
                  <a:tcPr marL="73152" marR="73152"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100k+ labeled videos, 8-128 GPUs</a:t>
                      </a:r>
                    </a:p>
                  </a:txBody>
                  <a:tcPr marL="73152" marR="73152"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Not applicable: 42 videos, 1 M1</a:t>
                      </a:r>
                    </a:p>
                  </a:txBody>
                  <a:tcPr marL="73152" marR="73152" marT="36576" marB="36576">
                    <a:solidFill>
                      <a:srgbClr val="F3F4F6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Retail fraud (Chen et al. 2019)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10k+ labeled transactions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Not public, not obtainable in 48h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Pose-based action recognition</a:t>
                      </a:r>
                    </a:p>
                  </a:txBody>
                  <a:tcPr marL="73152" marR="73152"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Requires stable keypoints</a:t>
                      </a:r>
                    </a:p>
                  </a:txBody>
                  <a:tcPr marL="73152" marR="73152"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Fails at this resolution (slide 8)</a:t>
                      </a:r>
                    </a:p>
                  </a:txBody>
                  <a:tcPr marL="73152" marR="73152" marT="36576" marB="36576">
                    <a:solidFill>
                      <a:srgbClr val="F3F4F6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VLM zero-shot (GPT-4V, Llama-Vision)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Cloud APIs or 7 GB local models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Prohibited by data residency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This work</a:t>
                      </a:r>
                    </a:p>
                  </a:txBody>
                  <a:tcPr marL="73152" marR="73152"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42 clips, 48h, CPU-only, offline</a:t>
                      </a:r>
                    </a:p>
                  </a:txBody>
                  <a:tcPr marL="73152" marR="73152"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61.22% F1, verifiable, deployable</a:t>
                      </a:r>
                    </a:p>
                  </a:txBody>
                  <a:tcPr marL="73152" marR="73152" marT="36576" marB="36576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3977639"/>
            <a:ext cx="8412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spc="150">
              <a:defRPr sz="1000" b="1">
                <a:solidFill>
                  <a:srgbClr val="A31551"/>
                </a:solidFill>
                <a:latin typeface="Arial"/>
              </a:defRPr>
            </a:pPr>
            <a:r>
              <a:t>POSITIONING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270248"/>
            <a:ext cx="8412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indent="-180000">
              <a:spcAft>
                <a:spcPts val="300"/>
              </a:spcAft>
              <a:defRPr sz="900">
                <a:solidFill>
                  <a:srgbClr val="1A1A1A"/>
                </a:solidFill>
                <a:latin typeface="Arial"/>
              </a:defRPr>
            </a:pPr>
            <a:r>
              <a:t>•  This is not SOTA. It is 'what can you ship today under the constraints above'.</a:t>
            </a:r>
          </a:p>
          <a:p>
            <a:pPr marL="180000" indent="-180000">
              <a:spcAft>
                <a:spcPts val="300"/>
              </a:spcAft>
              <a:defRPr sz="900">
                <a:solidFill>
                  <a:srgbClr val="1A1A1A"/>
                </a:solidFill>
                <a:latin typeface="Arial"/>
              </a:defRPr>
            </a:pPr>
            <a:r>
              <a:t>•  The gap to SOTA is order-of-magnitude on data and compute. Not closeable in 48h.</a:t>
            </a:r>
          </a:p>
          <a:p>
            <a:pPr marL="180000" indent="-180000">
              <a:spcAft>
                <a:spcPts val="300"/>
              </a:spcAft>
              <a:defRPr sz="900">
                <a:solidFill>
                  <a:srgbClr val="1A1A1A"/>
                </a:solidFill>
                <a:latin typeface="Arial"/>
              </a:defRPr>
            </a:pPr>
            <a:r>
              <a:t>•  The contribution is a feasibility bound and a legal-anchoring pattern, not a new model.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A315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A31551"/>
                </a:solidFill>
                <a:latin typeface="Arial"/>
              </a:defRPr>
            </a:pPr>
            <a:r>
              <a:t>The ask: statistical power, not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828032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6666"/>
                </a:solidFill>
                <a:latin typeface="Arial"/>
              </a:defRPr>
            </a:pPr>
            <a:r>
              <a:t>11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41248"/>
            <a:ext cx="8412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666666"/>
                </a:solidFill>
                <a:latin typeface="Arial"/>
              </a:defRPr>
            </a:pPr>
            <a:r>
              <a:t>What would move this from pilot study to validated claim.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234440"/>
            <a:ext cx="1737360" cy="530352"/>
          </a:xfrm>
          <a:prstGeom prst="roundRect">
            <a:avLst>
              <a:gd name="adj" fmla="val 15000"/>
            </a:avLst>
          </a:prstGeom>
          <a:solidFill>
            <a:srgbClr val="A315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62456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WEEKS 1 TO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1289304"/>
            <a:ext cx="4389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A1A1A"/>
                </a:solidFill>
                <a:latin typeface="Arial"/>
              </a:defRPr>
            </a:pPr>
            <a:r>
              <a:t>Label 400 clips (from 42). Two annotators.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1289304"/>
            <a:ext cx="2103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00573F"/>
                </a:solidFill>
                <a:latin typeface="Arial"/>
              </a:defRPr>
            </a:pPr>
            <a:r>
              <a:t>Moves CI from ±15% to ±5%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892808"/>
            <a:ext cx="1737360" cy="530352"/>
          </a:xfrm>
          <a:prstGeom prst="roundRect">
            <a:avLst>
              <a:gd name="adj" fmla="val 15000"/>
            </a:avLst>
          </a:prstGeom>
          <a:solidFill>
            <a:srgbClr val="A315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020824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WEEKS 7 TO 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1947672"/>
            <a:ext cx="4389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A1A1A"/>
                </a:solidFill>
                <a:latin typeface="Arial"/>
              </a:defRPr>
            </a:pPr>
            <a:r>
              <a:t>Fine-tune 3D action classifier for sitting violations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1947672"/>
            <a:ext cx="2103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00573F"/>
                </a:solidFill>
                <a:latin typeface="Arial"/>
              </a:defRPr>
            </a:pPr>
            <a:r>
              <a:t>Target: +5 F1 on phone/reaching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2551176"/>
            <a:ext cx="1737360" cy="530352"/>
          </a:xfrm>
          <a:prstGeom prst="roundRect">
            <a:avLst>
              <a:gd name="adj" fmla="val 15000"/>
            </a:avLst>
          </a:prstGeom>
          <a:solidFill>
            <a:srgbClr val="A315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679192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WEEKS 11 TO 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2606040"/>
            <a:ext cx="4389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A1A1A"/>
                </a:solidFill>
                <a:latin typeface="Arial"/>
              </a:defRPr>
            </a:pPr>
            <a:r>
              <a:t>Per-video desk detection for angle invariance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2606040"/>
            <a:ext cx="2103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00573F"/>
                </a:solidFill>
                <a:latin typeface="Arial"/>
              </a:defRPr>
            </a:pPr>
            <a:r>
              <a:t>Target: generalizes to test angle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209544"/>
            <a:ext cx="1737360" cy="530352"/>
          </a:xfrm>
          <a:prstGeom prst="roundRect">
            <a:avLst>
              <a:gd name="adj" fmla="val 15000"/>
            </a:avLst>
          </a:prstGeom>
          <a:solidFill>
            <a:srgbClr val="A315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333756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WEEKS 13 TO 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3264408"/>
            <a:ext cx="4389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A1A1A"/>
                </a:solidFill>
                <a:latin typeface="Arial"/>
              </a:defRPr>
            </a:pPr>
            <a:r>
              <a:t>One pilot branch, 30 days live footage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3264408"/>
            <a:ext cx="2103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00573F"/>
                </a:solidFill>
                <a:latin typeface="Arial"/>
              </a:defRPr>
            </a:pPr>
            <a:r>
              <a:t>Success: 80% catch, &lt;10% FP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4069080"/>
            <a:ext cx="8412480" cy="777240"/>
          </a:xfrm>
          <a:prstGeom prst="roundRect">
            <a:avLst>
              <a:gd name="adj" fmla="val 5000"/>
            </a:avLst>
          </a:prstGeom>
          <a:solidFill>
            <a:srgbClr val="ECFDF5"/>
          </a:solidFill>
          <a:ln w="12700">
            <a:solidFill>
              <a:srgbClr val="0057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142232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spc="150">
              <a:defRPr sz="1000" b="1">
                <a:solidFill>
                  <a:srgbClr val="00573F"/>
                </a:solidFill>
                <a:latin typeface="Arial"/>
              </a:defRPr>
            </a:pPr>
            <a:r>
              <a:t>WHAT WE NEED FROM YOU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434840"/>
            <a:ext cx="8046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indent="-180000">
              <a:spcAft>
                <a:spcPts val="300"/>
              </a:spcAft>
              <a:defRPr sz="1000">
                <a:solidFill>
                  <a:srgbClr val="1A1A1A"/>
                </a:solidFill>
                <a:latin typeface="Arial"/>
              </a:defRPr>
            </a:pPr>
            <a:r>
              <a:t>•  400 historical clips for labeling  ·  one pilot branch contact  ·  nothing else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3155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051560"/>
            <a:ext cx="78638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Arial"/>
              </a:defRPr>
            </a:pPr>
            <a:r>
              <a:t>This is a pilot study.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965960"/>
            <a:ext cx="7863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Arial"/>
              </a:defRPr>
            </a:pPr>
            <a:r>
              <a:t>We proved: deterministic, legally-anchored, CPU-deployable CV is achievable in 48h.</a:t>
            </a:r>
          </a:p>
          <a:p>
            <a:pPr>
              <a:defRPr sz="1400">
                <a:solidFill>
                  <a:srgbClr val="FFFFFF"/>
                </a:solidFill>
                <a:latin typeface="Arial"/>
              </a:defRPr>
            </a:pPr>
            <a:r>
              <a:t>We did not prove: generalization, statistical significance, or action recognition.</a:t>
            </a:r>
          </a:p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The gap is measurable, not hidden.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657600"/>
            <a:ext cx="786384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749039"/>
            <a:ext cx="749807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A31551"/>
                </a:solidFill>
                <a:latin typeface="Arial"/>
              </a:defRPr>
            </a:pPr>
            <a:r>
              <a:t>github.com/almansur04/forte-cash-cv</a:t>
            </a:r>
          </a:p>
          <a:p>
            <a:pPr>
              <a:defRPr sz="1000">
                <a:solidFill>
                  <a:srgbClr val="1A1A1A"/>
                </a:solidFill>
                <a:latin typeface="Courier New"/>
              </a:defRPr>
            </a:pPr>
            <a:r>
              <a:t>docker run -p 8000:8000 almansur04/forte-cash-api:latest</a:t>
            </a:r>
          </a:p>
          <a:p>
            <a:pPr>
              <a:defRPr sz="1000">
                <a:solidFill>
                  <a:srgbClr val="1A1A1A"/>
                </a:solidFill>
                <a:latin typeface="Arial"/>
              </a:defRPr>
            </a:pPr>
            <a:r>
              <a:t>API key: forte-hack-2026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